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3444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3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39" y="-137160"/>
            <a:ext cx="1170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363636"/>
                </a:solidFill>
                <a:latin typeface="Calibri"/>
              </a:rPr>
              <a:t>MAPPO Evacuation Routing Architecture (Line Topology)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50291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363636"/>
                </a:solidFill>
                <a:latin typeface="Calibri"/>
              </a:rPr>
              <a:t>Input (per agent)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39" y="50291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363636"/>
                </a:solidFill>
                <a:latin typeface="Calibri"/>
              </a:rPr>
              <a:t>Actor / Critic MLPs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087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DCEEF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Local Edge Obs.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(obs_dim = 29)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7 feats x 2 edges x 2 blocks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(current-node + dest-node)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+ 1 progress 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01752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1">
                <a:solidFill>
                  <a:srgbClr val="444444"/>
                </a:solidFill>
                <a:latin typeface="Calibri"/>
              </a:rPr>
              <a:t>7 x 2 x 2 + 1 = 29</a:t>
            </a:r>
          </a:p>
          <a:p>
            <a:pPr algn="ctr"/>
            <a:r>
              <a:rPr sz="750" b="0" i="1">
                <a:solidFill>
                  <a:srgbClr val="444444"/>
                </a:solidFill>
                <a:latin typeface="Calibri"/>
              </a:rPr>
              <a:t>[area, speed, n_agents,</a:t>
            </a:r>
          </a:p>
          <a:p>
            <a:pPr algn="ctr"/>
            <a:r>
              <a:rPr sz="750" b="0" i="1">
                <a:solidFill>
                  <a:srgbClr val="444444"/>
                </a:solidFill>
                <a:latin typeface="Calibri"/>
              </a:rPr>
              <a:t>density, speed_ratio,</a:t>
            </a:r>
          </a:p>
          <a:p>
            <a:pPr algn="ctr"/>
            <a:r>
              <a:rPr sz="750" b="0" i="1">
                <a:solidFill>
                  <a:srgbClr val="444444"/>
                </a:solidFill>
                <a:latin typeface="Calibri"/>
              </a:rPr>
              <a:t>density_ratio, closeness]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206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CEEF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Global State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(global_state_dim = 3)</a:t>
            </a:r>
          </a:p>
          <a:p>
            <a:pPr algn="ctr"/>
            <a:r>
              <a:rPr sz="1050" b="1" i="0">
                <a:solidFill>
                  <a:srgbClr val="363636"/>
                </a:solidFill>
                <a:latin typeface="Calibri"/>
              </a:rPr>
              <a:t>centralized, Critic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91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Policy MLP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Linear(29→64) + Tanh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Linear(64→64) + Tanh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0632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Linear(64→2) + Softmax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7490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932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363636"/>
                </a:solidFill>
                <a:latin typeface="Calibri"/>
              </a:rPr>
              <a:t>Action Probs πθ(a|o)</a:t>
            </a:r>
          </a:p>
          <a:p>
            <a:pPr algn="ctr"/>
            <a:r>
              <a:rPr sz="950" b="1" i="0">
                <a:solidFill>
                  <a:srgbClr val="363636"/>
                </a:solidFill>
                <a:latin typeface="Calibri"/>
              </a:rPr>
              <a:t>(prob. over 2 choices: near/far)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1828800"/>
            <a:ext cx="91440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194560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2880360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3566160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48463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Value MLP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Linear(3→64) + Tanh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55321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Linear(64→64) + Tanh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62179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Linear(64→1)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69037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932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363636"/>
                </a:solidFill>
                <a:latin typeface="Calibri"/>
              </a:rPr>
              <a:t>State Value V(s)</a:t>
            </a:r>
          </a:p>
          <a:p>
            <a:pPr algn="ctr"/>
            <a:r>
              <a:rPr sz="950" b="1" i="0">
                <a:solidFill>
                  <a:srgbClr val="363636"/>
                </a:solidFill>
                <a:latin typeface="Calibri"/>
              </a:rPr>
              <a:t>(single scalar)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4663440"/>
            <a:ext cx="91440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63440" y="53492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60350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67208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0" y="640079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397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7999" y="62179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363636"/>
                </a:solidFill>
                <a:latin typeface="Calibri"/>
              </a:rPr>
              <a:t>Legend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124711"/>
            <a:ext cx="256032" cy="164592"/>
          </a:xfrm>
          <a:prstGeom prst="rect">
            <a:avLst/>
          </a:prstGeom>
          <a:solidFill>
            <a:srgbClr val="3B7DD8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7" y="1097279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  <a:latin typeface="Calibri"/>
              </a:rPr>
              <a:t>Policy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344167"/>
            <a:ext cx="256032" cy="164592"/>
          </a:xfrm>
          <a:prstGeom prst="rect">
            <a:avLst/>
          </a:prstGeom>
          <a:solidFill>
            <a:srgbClr val="9B59B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4927" y="1316735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  <a:latin typeface="Calibri"/>
              </a:rPr>
              <a:t>Value Network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563623"/>
            <a:ext cx="256032" cy="164592"/>
          </a:xfrm>
          <a:prstGeom prst="rect">
            <a:avLst/>
          </a:prstGeom>
          <a:solidFill>
            <a:srgbClr val="F0932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4927" y="1536191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  <a:latin typeface="Calibri"/>
              </a:rPr>
              <a:t>Actor/Critic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783079"/>
            <a:ext cx="256032" cy="164592"/>
          </a:xfrm>
          <a:prstGeom prst="rect">
            <a:avLst/>
          </a:prstGeom>
          <a:solidFill>
            <a:srgbClr val="E74C3C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7" y="1755647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  <a:latin typeface="Calibri"/>
              </a:rPr>
              <a:t>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002535"/>
            <a:ext cx="256032" cy="164592"/>
          </a:xfrm>
          <a:prstGeom prst="rect">
            <a:avLst/>
          </a:prstGeom>
          <a:solidFill>
            <a:srgbClr val="5D6D7E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24927" y="1975103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  <a:latin typeface="Calibri"/>
              </a:rPr>
              <a:t>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331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363636"/>
                </a:solidFill>
                <a:latin typeface="Calibri"/>
              </a:rPr>
              <a:t>Agents (shared weights)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274320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274320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274320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9780" y="27203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363636"/>
                </a:solidFill>
                <a:latin typeface="Calibri"/>
              </a:rPr>
              <a:t>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429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1">
                <a:solidFill>
                  <a:srgbClr val="363636"/>
                </a:solidFill>
                <a:latin typeface="Calibri"/>
              </a:rPr>
              <a:t>(N = 3000, decentralized execution, one shared Actor)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5760720" y="2743200"/>
            <a:ext cx="1737359" cy="1143000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60720" y="2743200"/>
            <a:ext cx="3154680" cy="1188720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60720" y="2743200"/>
            <a:ext cx="5212080" cy="1234439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58000" y="4480560"/>
            <a:ext cx="4937760" cy="960120"/>
          </a:xfrm>
          <a:prstGeom prst="roundRect">
            <a:avLst>
              <a:gd name="adj" fmla="val 8000"/>
            </a:avLst>
          </a:prstGeom>
          <a:solidFill>
            <a:srgbClr val="5D6D7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EvacuationEnv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(custom road-network simulator)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78040" y="3429000"/>
            <a:ext cx="0" cy="10515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75120" y="2788920"/>
            <a:ext cx="457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1">
                <a:solidFill>
                  <a:srgbClr val="363636"/>
                </a:solidFill>
                <a:latin typeface="Calibri"/>
              </a:rPr>
              <a:t>actions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463040" y="7680960"/>
            <a:ext cx="5394960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63040" y="5120640"/>
            <a:ext cx="0" cy="1828800"/>
          </a:xfrm>
          <a:prstGeom prst="line">
            <a:avLst/>
          </a:prstGeom>
          <a:ln w="1524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74519" y="7635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1">
                <a:solidFill>
                  <a:srgbClr val="707070"/>
                </a:solidFill>
                <a:latin typeface="Calibri"/>
              </a:rPr>
              <a:t>obs, reward (fed back each step)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621792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CF3CF"/>
          </a:solidFill>
          <a:ln w="1397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363636"/>
                </a:solidFill>
                <a:latin typeface="Calibri"/>
              </a:rPr>
              <a:t>Total Parameters</a:t>
            </a:r>
          </a:p>
          <a:p>
            <a:pPr algn="ctr"/>
            <a:r>
              <a:rPr sz="1000" b="1" i="0">
                <a:solidFill>
                  <a:srgbClr val="363636"/>
                </a:solidFill>
                <a:latin typeface="Calibri"/>
              </a:rPr>
              <a:t>Actor: 6,210</a:t>
            </a:r>
          </a:p>
          <a:p>
            <a:pPr algn="ctr"/>
            <a:r>
              <a:rPr sz="1000" b="1" i="0">
                <a:solidFill>
                  <a:srgbClr val="363636"/>
                </a:solidFill>
                <a:latin typeface="Calibri"/>
              </a:rPr>
              <a:t>Critic: 4,481</a:t>
            </a:r>
          </a:p>
          <a:p>
            <a:pPr algn="ctr"/>
            <a:r>
              <a:rPr sz="1000" b="1" i="0">
                <a:solidFill>
                  <a:srgbClr val="363636"/>
                </a:solidFill>
                <a:latin typeface="Calibri"/>
              </a:rPr>
              <a:t>(~10,691 total)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39" y="-137160"/>
            <a:ext cx="1170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MAPPO Evacuation Routing Architecture (Real Map: Ushioe, Kochi)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2785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(per agent)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39" y="102785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 / Critic MLPs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08760"/>
            <a:ext cx="2377440" cy="1441032"/>
          </a:xfrm>
          <a:prstGeom prst="roundRect">
            <a:avLst>
              <a:gd name="adj" fmla="val 8000"/>
            </a:avLst>
          </a:prstGeom>
          <a:solidFill>
            <a:srgbClr val="DCEEF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Edge Obs.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1" i="0" dirty="0" err="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obs_dim</a:t>
            </a:r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71)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feats x </a:t>
            </a:r>
            <a:r>
              <a:rPr sz="1400" b="1" i="0" dirty="0" err="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max_degree</a:t>
            </a:r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 x 2 blocks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(current-node + </a:t>
            </a:r>
            <a:r>
              <a:rPr sz="1400" b="1" i="0" dirty="0" err="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</a:t>
            </a:r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-node)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 progress scalar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85817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CEEF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State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1" i="0" dirty="0" err="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global_state_dim</a:t>
            </a:r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9)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centralized, Critic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13841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MLP</a:t>
            </a:r>
          </a:p>
          <a:p>
            <a:pPr algn="ctr"/>
            <a:r>
              <a:rPr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Linear(71→64) + Tanh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9641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Linear(64→64) + Tanh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885441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Linear(64→5) + Softmax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571240"/>
            <a:ext cx="2194560" cy="772155"/>
          </a:xfrm>
          <a:prstGeom prst="roundRect">
            <a:avLst>
              <a:gd name="adj" fmla="val 8000"/>
            </a:avLst>
          </a:prstGeom>
          <a:solidFill>
            <a:srgbClr val="F0932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Probs πθ(</a:t>
            </a:r>
            <a:r>
              <a:rPr sz="1400" b="1" i="0" dirty="0" err="1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a|o</a:t>
            </a:r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sz="14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(prob. over up to 5 neighbor edges)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2651760" y="1761064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016761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2702561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3388361"/>
            <a:ext cx="0" cy="1828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48463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MLP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Linear(9→64) + Tanh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55321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Linear(64→64) + Tanh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62179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Linear(64→1)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69037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0932B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Value V(s)</a:t>
            </a:r>
          </a:p>
          <a:p>
            <a:pPr algn="ctr"/>
            <a:r>
              <a:rPr sz="1400" b="1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(single scalar)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2651760" y="5098628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63440" y="53492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60350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672084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0" y="1165014"/>
            <a:ext cx="2539993" cy="16002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397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7999" y="1146727"/>
            <a:ext cx="2539993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649646"/>
            <a:ext cx="256032" cy="164592"/>
          </a:xfrm>
          <a:prstGeom prst="rect">
            <a:avLst/>
          </a:prstGeom>
          <a:solidFill>
            <a:srgbClr val="3B7DD8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24927" y="1622214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869102"/>
            <a:ext cx="256032" cy="164592"/>
          </a:xfrm>
          <a:prstGeom prst="rect">
            <a:avLst/>
          </a:prstGeom>
          <a:solidFill>
            <a:srgbClr val="9B59B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24927" y="184167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Network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088558"/>
            <a:ext cx="256032" cy="164592"/>
          </a:xfrm>
          <a:prstGeom prst="rect">
            <a:avLst/>
          </a:prstGeom>
          <a:solidFill>
            <a:srgbClr val="F0932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4927" y="206112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Actor/Critic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308014"/>
            <a:ext cx="256032" cy="164592"/>
          </a:xfrm>
          <a:prstGeom prst="rect">
            <a:avLst/>
          </a:prstGeom>
          <a:solidFill>
            <a:srgbClr val="E74C3C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24927" y="228058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527470"/>
            <a:ext cx="256032" cy="164592"/>
          </a:xfrm>
          <a:prstGeom prst="rect">
            <a:avLst/>
          </a:prstGeom>
          <a:solidFill>
            <a:srgbClr val="5D6D7E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24927" y="250003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77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(shared weights)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851403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4851403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851403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9780" y="4828543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42" name="Connector 41"/>
          <p:cNvCxnSpPr>
            <a:cxnSpLocks/>
            <a:stCxn id="11" idx="3"/>
            <a:endCxn id="37" idx="0"/>
          </p:cNvCxnSpPr>
          <p:nvPr/>
        </p:nvCxnSpPr>
        <p:spPr>
          <a:xfrm>
            <a:off x="5760720" y="3957318"/>
            <a:ext cx="1737360" cy="894085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cxnSpLocks/>
            <a:stCxn id="11" idx="3"/>
            <a:endCxn id="38" idx="0"/>
          </p:cNvCxnSpPr>
          <p:nvPr/>
        </p:nvCxnSpPr>
        <p:spPr>
          <a:xfrm>
            <a:off x="5760720" y="3957318"/>
            <a:ext cx="3154680" cy="894085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  <a:stCxn id="11" idx="3"/>
            <a:endCxn id="39" idx="0"/>
          </p:cNvCxnSpPr>
          <p:nvPr/>
        </p:nvCxnSpPr>
        <p:spPr>
          <a:xfrm>
            <a:off x="5760720" y="3957318"/>
            <a:ext cx="5212080" cy="894085"/>
          </a:xfrm>
          <a:prstGeom prst="line">
            <a:avLst/>
          </a:prstGeom>
          <a:ln w="19050">
            <a:solidFill>
              <a:srgbClr val="F093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58000" y="6964680"/>
            <a:ext cx="4937760" cy="960120"/>
          </a:xfrm>
          <a:prstGeom prst="roundRect">
            <a:avLst>
              <a:gd name="adj" fmla="val 8000"/>
            </a:avLst>
          </a:prstGeom>
          <a:solidFill>
            <a:srgbClr val="5D6D7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EvacuationEnv</a:t>
            </a:r>
            <a:endParaRPr sz="1600" b="1" i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(OSM road network: </a:t>
            </a:r>
            <a:r>
              <a:rPr sz="1600" b="1" i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Ushioe</a:t>
            </a:r>
            <a:r>
              <a:rPr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Kochi</a:t>
            </a:r>
          </a:p>
          <a:p>
            <a:pPr algn="ctr"/>
            <a:r>
              <a:rPr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5,750 nodes, 85 shelters)</a:t>
            </a:r>
          </a:p>
        </p:txBody>
      </p:sp>
      <p:cxnSp>
        <p:nvCxnSpPr>
          <p:cNvPr id="46" name="Connector 45"/>
          <p:cNvCxnSpPr>
            <a:cxnSpLocks/>
          </p:cNvCxnSpPr>
          <p:nvPr/>
        </p:nvCxnSpPr>
        <p:spPr>
          <a:xfrm>
            <a:off x="7178040" y="5537203"/>
            <a:ext cx="0" cy="141223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rot="16200000">
            <a:off x="6537960" y="5978735"/>
            <a:ext cx="960120" cy="4174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463040" y="7680960"/>
            <a:ext cx="5394960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  <a:endCxn id="7" idx="2"/>
          </p:cNvCxnSpPr>
          <p:nvPr/>
        </p:nvCxnSpPr>
        <p:spPr>
          <a:xfrm flipV="1">
            <a:off x="1463040" y="5772576"/>
            <a:ext cx="0" cy="1894837"/>
          </a:xfrm>
          <a:prstGeom prst="line">
            <a:avLst/>
          </a:prstGeom>
          <a:ln w="1524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13560" y="77190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0" i="1" dirty="0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</a:t>
            </a:r>
            <a:r>
              <a:rPr b="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reward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09760" y="1165014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FCF3CF"/>
          </a:solidFill>
          <a:ln w="1397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Parameters</a:t>
            </a:r>
          </a:p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Actor: 9,093</a:t>
            </a:r>
          </a:p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Critic: 4,865</a:t>
            </a:r>
          </a:p>
          <a:p>
            <a:pPr algn="ctr"/>
            <a:r>
              <a:rPr sz="1600" b="1" i="0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(~13,958 total)</a:t>
            </a:r>
          </a:p>
        </p:txBody>
      </p:sp>
      <p:cxnSp>
        <p:nvCxnSpPr>
          <p:cNvPr id="70" name="Connector 45">
            <a:extLst>
              <a:ext uri="{FF2B5EF4-FFF2-40B4-BE49-F238E27FC236}">
                <a16:creationId xmlns:a16="http://schemas.microsoft.com/office/drawing/2014/main" id="{A2C1F4BC-B39B-E6F5-B48C-7E26386D6F7F}"/>
              </a:ext>
            </a:extLst>
          </p:cNvPr>
          <p:cNvCxnSpPr>
            <a:cxnSpLocks/>
          </p:cNvCxnSpPr>
          <p:nvPr/>
        </p:nvCxnSpPr>
        <p:spPr>
          <a:xfrm>
            <a:off x="8608907" y="5537203"/>
            <a:ext cx="0" cy="141223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5">
            <a:extLst>
              <a:ext uri="{FF2B5EF4-FFF2-40B4-BE49-F238E27FC236}">
                <a16:creationId xmlns:a16="http://schemas.microsoft.com/office/drawing/2014/main" id="{5509AC4B-17BD-21E7-2F83-547AC2A313A5}"/>
              </a:ext>
            </a:extLst>
          </p:cNvPr>
          <p:cNvCxnSpPr>
            <a:cxnSpLocks/>
          </p:cNvCxnSpPr>
          <p:nvPr/>
        </p:nvCxnSpPr>
        <p:spPr>
          <a:xfrm>
            <a:off x="10625327" y="5537203"/>
            <a:ext cx="0" cy="141223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44640" y="559477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1" dirty="0">
                <a:solidFill>
                  <a:srgbClr val="3636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3000, decentralized execution, one shared Actor)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444</Words>
  <Application>Microsoft Office PowerPoint</Application>
  <PresentationFormat>Custom</PresentationFormat>
  <Paragraphs>91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Shoko Sato</cp:lastModifiedBy>
  <cp:revision>2</cp:revision>
  <dcterms:created xsi:type="dcterms:W3CDTF">2013-01-27T09:14:16Z</dcterms:created>
  <dcterms:modified xsi:type="dcterms:W3CDTF">2026-09-07T06:08:54Z</dcterms:modified>
  <cp:category/>
</cp:coreProperties>
</file>